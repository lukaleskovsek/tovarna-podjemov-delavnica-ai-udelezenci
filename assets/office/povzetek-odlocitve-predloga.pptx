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1b17c33f6d94cdc" /><Relationship Type="http://schemas.openxmlformats.org/officeDocument/2006/relationships/extended-properties" Target="/docProps/app.xml" Id="R3cf1a2a3b0384c96" /><Relationship Type="http://schemas.openxmlformats.org/officeDocument/2006/relationships/officeDocument" Target="/ppt/presentation.xml" Id="R06fef0c456434447" /></Relationships>
</file>

<file path=ppt/presentation.xml><?xml version="1.0" encoding="utf-8"?>
<p:presentation xmlns:p="http://schemas.openxmlformats.org/presentationml/2006/main">
  <p:sldMasterIdLst>
    <p:sldMasterId xmlns:r="http://schemas.openxmlformats.org/officeDocument/2006/relationships" id="2147483648" r:id="Rd32d45b4035f4879"/>
  </p:sldMasterIdLst>
  <p:notesMasterIdLst>
    <p:notesMasterId xmlns:r="http://schemas.openxmlformats.org/officeDocument/2006/relationships" r:id="Rd725295c1f9b4932"/>
  </p:notesMasterIdLst>
  <p:sldIdLst>
    <p:sldId xmlns:r="http://schemas.openxmlformats.org/officeDocument/2006/relationships" id="256" r:id="Redada777f5da43b6"/>
    <p:sldId xmlns:r="http://schemas.openxmlformats.org/officeDocument/2006/relationships" id="257" r:id="Rfad2319e69e54f50"/>
    <p:sldId xmlns:r="http://schemas.openxmlformats.org/officeDocument/2006/relationships" id="258" r:id="R3510bd102312455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b2c84cfa3c45e5" /><Relationship Type="http://schemas.openxmlformats.org/officeDocument/2006/relationships/slideMaster" Target="/ppt/slideMasters/slideMaster1.xml" Id="Rd32d45b4035f4879" /><Relationship Type="http://schemas.openxmlformats.org/officeDocument/2006/relationships/notesMaster" Target="/ppt/notesMasters/notesMaster1.xml" Id="Rd725295c1f9b4932" /><Relationship Type="http://schemas.openxmlformats.org/officeDocument/2006/relationships/presProps" Target="/ppt/presProps.xml" Id="R80d0f3afb73c496e" /><Relationship Type="http://schemas.openxmlformats.org/officeDocument/2006/relationships/tableStyles" Target="/ppt/tableStyles.xml" Id="R910bc37256084d95" /><Relationship Type="http://schemas.openxmlformats.org/officeDocument/2006/relationships/slide" Target="/ppt/slides/slide1.xml" Id="Redada777f5da43b6" /><Relationship Type="http://schemas.openxmlformats.org/officeDocument/2006/relationships/slide" Target="/ppt/slides/slide2.xml" Id="Rfad2319e69e54f50" /><Relationship Type="http://schemas.openxmlformats.org/officeDocument/2006/relationships/slide" Target="/ppt/slides/slide3.xml" Id="R3510bd102312455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312431eebe4b5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75000006ed4f67" /><Relationship Type="http://schemas.openxmlformats.org/officeDocument/2006/relationships/notesMaster" Target="/ppt/notesMasters/notesMaster1.xml" Id="Rd9c02b296eea48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b1d2e34f6045cb" /><Relationship Type="http://schemas.openxmlformats.org/officeDocument/2006/relationships/notesMaster" Target="/ppt/notesMasters/notesMaster1.xml" Id="Rb260179cdf2444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8982e2f6ef406b" /><Relationship Type="http://schemas.openxmlformats.org/officeDocument/2006/relationships/notesMaster" Target="/ppt/notesMasters/notesMaster1.xml" Id="R641bb94af1774c5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Učna predloga. Vsi poslovni podatki v vaji so izmišljeni. Naslov in predlog dopolnite po lastnem pregledu. Vhod: exercises/conference/prospects.csv. Pravila: exercises/conference/rules.md. Primerjalni vir: exercises/conference/existing-crm.json. Te poti so relativne na koren repozitorija. Besedilo in vsi predmeti ostanejo uredljivi. Ta predloga ne vsebuje rešene razvrstitve.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Števila v praznih poljih povzemite iz svojega preverjenega pregleda. Vsota štirih statusov mora biti 10. Ohranite vse izvorne vrstice in zapišite dokaz za ujemanje ali izjemo. Viri: exercises/conference/prospects.csv; exercises/conference/existing-crm.json; exercises/conference/rules.md. Tabela je izvorna PowerPoint tabela in jo lahko urejate. Pričakovani izhod je ločen učni pripomoček za poznejšo primerjavo.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 tej učni predlogi je odločitev še odprta. Ne navajajte, da je karkoli že odobreno ali zapisano. Ob odobritvi navedite konkretni načrt, njegovo različico in lastnika odločitve. Če se vsebina spremeni, ponovno preverite ustreznost odločitve. Povezana vaja in njena pravila: exercises/conference/README.md in exercises/conference/rules.md.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b043c6702646c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e93312ce364bdd" /><Relationship Type="http://schemas.openxmlformats.org/officeDocument/2006/relationships/slideLayout" Target="/ppt/slideLayouts/slideLayout1.xml" Id="Rd7a5e66b4646449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a5e66b464644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7f99844070b414b" /><Relationship Type="http://schemas.openxmlformats.org/officeDocument/2006/relationships/notesSlide" Target="/ppt/notesSlides/notesSlide1.xml" Id="R195ef6e8be6747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01d2e5e86eb40b7" /><Relationship Type="http://schemas.openxmlformats.org/officeDocument/2006/relationships/notesSlide" Target="/ppt/notesSlides/notesSlide2.xml" Id="R5a948d8c9c8a4a5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873dc1cf4a4cd6" /><Relationship Type="http://schemas.openxmlformats.org/officeDocument/2006/relationships/notesSlide" Target="/ppt/notesSlides/notesSlide3.xml" Id="Rd92a2ea09bce489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D8D9467-EC22-4053-A6DE-1D6D2E230E9A}"/>
              </a:ext>
            </a:extLst>
          </p:cNvPr>
          <p:cNvSpPr>
            <a:spLocks xmlns:a="http://schemas.openxmlformats.org/drawingml/2006/main" noGrp="1"/>
          </p:cNvSpPr>
          <p:nvPr/>
        </p:nvSpPr>
        <p:spPr>
          <a:xfrm xmlns:a="http://schemas.openxmlformats.org/drawingml/2006/main">
            <a:off x="685800" y="523875"/>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52E"/>
                </a:solidFill>
                <a:latin typeface="Arial"/>
                <a:ea typeface="Arial"/>
                <a:cs typeface="Arial"/>
              </a:defRPr>
            </a:pPr>
            <a:r>
              <a:rPr sz="3600" b="1">
                <a:solidFill>
                  <a:srgbClr val="18252E"/>
                </a:solidFill>
                <a:latin typeface="Arial"/>
                <a:ea typeface="Arial"/>
                <a:cs typeface="Arial"/>
              </a:rPr>
              <a:t>Pregled konferenčnih kontaktov</a:t>
            </a:r>
          </a:p>
        </p:txBody>
      </p:sp>
      <p:sp>
        <p:nvSpPr>
          <p:cNvPr id="2" name="">
            <a:extLst xmlns:a="http://schemas.openxmlformats.org/drawingml/2006/main">
              <a:ext uri="{FF2B5EF4-FFF2-40B4-BE49-F238E27FC236}">
                <a16:creationId xmlns:a16="http://schemas.microsoft.com/office/drawing/2014/main" id="{F2988D9F-3D0D-4295-A0B3-F2D19F36C528}"/>
              </a:ext>
            </a:extLst>
          </p:cNvPr>
          <p:cNvSpPr>
            <a:spLocks xmlns:a="http://schemas.openxmlformats.org/drawingml/2006/main" noGrp="1"/>
          </p:cNvSpPr>
          <p:nvPr/>
        </p:nvSpPr>
        <p:spPr>
          <a:xfrm xmlns:a="http://schemas.openxmlformats.org/drawingml/2006/main">
            <a:off x="704850" y="1438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Podjem 2026    Tovarna podjemov    Učna predloga</a:t>
            </a:r>
          </a:p>
        </p:txBody>
      </p:sp>
      <p:sp>
        <p:nvSpPr>
          <p:cNvPr id="3" name="">
            <a:extLst xmlns:a="http://schemas.openxmlformats.org/drawingml/2006/main">
              <a:ext uri="{FF2B5EF4-FFF2-40B4-BE49-F238E27FC236}">
                <a16:creationId xmlns:a16="http://schemas.microsoft.com/office/drawing/2014/main" id="{5694B51E-B26D-4E59-B3A3-C15A190A6BF5}"/>
              </a:ext>
            </a:extLst>
          </p:cNvPr>
          <p:cNvSpPr>
            <a:spLocks xmlns:a="http://schemas.openxmlformats.org/drawingml/2006/main" noGrp="1"/>
          </p:cNvSpPr>
          <p:nvPr/>
        </p:nvSpPr>
        <p:spPr>
          <a:xfrm xmlns:a="http://schemas.openxmlformats.org/drawingml/2006/main">
            <a:off x="704850" y="22383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252E"/>
                </a:solidFill>
                <a:latin typeface="Arial"/>
                <a:ea typeface="Arial"/>
                <a:cs typeface="Arial"/>
              </a:defRPr>
            </a:pPr>
            <a:r>
              <a:rPr sz="3450" b="1">
                <a:solidFill>
                  <a:srgbClr val="18252E"/>
                </a:solidFill>
                <a:latin typeface="Arial"/>
                <a:ea typeface="Arial"/>
                <a:cs typeface="Arial"/>
              </a:rPr>
              <a:t>[Predlagana odločitev]</a:t>
            </a:r>
          </a:p>
        </p:txBody>
      </p:sp>
      <p:sp>
        <p:nvSpPr>
          <p:cNvPr id="4" name="">
            <a:extLst xmlns:a="http://schemas.openxmlformats.org/drawingml/2006/main">
              <a:ext uri="{FF2B5EF4-FFF2-40B4-BE49-F238E27FC236}">
                <a16:creationId xmlns:a16="http://schemas.microsoft.com/office/drawing/2014/main" id="{BACFA244-46DE-4A3D-857B-D41E7270C6E4}"/>
              </a:ext>
            </a:extLst>
          </p:cNvPr>
          <p:cNvSpPr>
            <a:spLocks xmlns:a="http://schemas.openxmlformats.org/drawingml/2006/main" noGrp="1"/>
          </p:cNvSpPr>
          <p:nvPr/>
        </p:nvSpPr>
        <p:spPr>
          <a:xfrm xmlns:a="http://schemas.openxmlformats.org/drawingml/2006/main">
            <a:off x="704850" y="319087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252E"/>
                </a:solidFill>
                <a:latin typeface="Arial"/>
                <a:ea typeface="Arial"/>
                <a:cs typeface="Arial"/>
              </a:defRPr>
            </a:pPr>
            <a:r>
              <a:rPr sz="2400" b="0">
                <a:solidFill>
                  <a:srgbClr val="18252E"/>
                </a:solidFill>
                <a:latin typeface="Arial"/>
                <a:ea typeface="Arial"/>
                <a:cs typeface="Arial"/>
              </a:rPr>
              <a:t>[Točen obseg vrstic ali naslednjega dejanja]</a:t>
            </a:r>
          </a:p>
        </p:txBody>
      </p:sp>
      <p:sp>
        <p:nvSpPr>
          <p:cNvPr id="5" name="">
            <a:extLst xmlns:a="http://schemas.openxmlformats.org/drawingml/2006/main">
              <a:ext uri="{FF2B5EF4-FFF2-40B4-BE49-F238E27FC236}">
                <a16:creationId xmlns:a16="http://schemas.microsoft.com/office/drawing/2014/main" id="{B7E99E36-EEFA-40C1-BB0A-305DEDBFE716}"/>
              </a:ext>
            </a:extLst>
          </p:cNvPr>
          <p:cNvSpPr>
            <a:spLocks xmlns:a="http://schemas.openxmlformats.org/drawingml/2006/main" noGrp="1"/>
          </p:cNvSpPr>
          <p:nvPr/>
        </p:nvSpPr>
        <p:spPr>
          <a:xfrm xmlns:a="http://schemas.openxmlformats.org/drawingml/2006/main">
            <a:off x="704850" y="4238625"/>
            <a:ext cx="10382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52E"/>
                </a:solidFill>
                <a:latin typeface="Arial"/>
                <a:ea typeface="Arial"/>
                <a:cs typeface="Arial"/>
              </a:defRPr>
            </a:pPr>
            <a:r>
              <a:rPr sz="2175" b="0">
                <a:solidFill>
                  <a:srgbClr val="18252E"/>
                </a:solidFill>
                <a:latin typeface="Arial"/>
                <a:ea typeface="Arial"/>
                <a:cs typeface="Arial"/>
              </a:rPr>
              <a:t>[Glavni razlog in pogoj, ki mora biti izpolnjen]</a:t>
            </a:r>
          </a:p>
        </p:txBody>
      </p:sp>
      <p:sp>
        <p:nvSpPr>
          <p:cNvPr id="6" name="">
            <a:extLst xmlns:a="http://schemas.openxmlformats.org/drawingml/2006/main">
              <a:ext uri="{FF2B5EF4-FFF2-40B4-BE49-F238E27FC236}">
                <a16:creationId xmlns:a16="http://schemas.microsoft.com/office/drawing/2014/main" id="{BA1937A0-F998-4EA8-AB27-E0097C1EFE3A}"/>
              </a:ext>
            </a:extLst>
          </p:cNvPr>
          <p:cNvSpPr>
            <a:spLocks xmlns:a="http://schemas.openxmlformats.org/drawingml/2006/main" noGrp="1"/>
          </p:cNvSpPr>
          <p:nvPr/>
        </p:nvSpPr>
        <p:spPr>
          <a:xfrm xmlns:a="http://schemas.openxmlformats.org/drawingml/2006/main">
            <a:off x="704850" y="577215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16B"/>
                </a:solidFill>
                <a:latin typeface="Arial"/>
                <a:ea typeface="Arial"/>
                <a:cs typeface="Arial"/>
              </a:defRPr>
            </a:pPr>
            <a:r>
              <a:rPr sz="1650" b="0">
                <a:solidFill>
                  <a:srgbClr val="52616B"/>
                </a:solidFill>
                <a:latin typeface="Arial"/>
                <a:ea typeface="Arial"/>
                <a:cs typeface="Arial"/>
              </a:rPr>
              <a:t>Za pregled: [prejemnik]    Pripravil: [avtor]    [datum]</a:t>
            </a:r>
          </a:p>
        </p:txBody>
      </p:sp>
    </p:spTree>
    <p:extLst>
      <p:ext uri="{BB962C8B-B14F-4D97-AF65-F5344CB8AC3E}">
        <p14:creationId xmlns:p14="http://schemas.microsoft.com/office/powerpoint/2010/main" val="9193085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2D9FA7F-18F9-4F43-8711-FBC73EF0AE1A}"/>
              </a:ext>
            </a:extLst>
          </p:cNvPr>
          <p:cNvSpPr>
            <a:spLocks xmlns:a="http://schemas.openxmlformats.org/drawingml/2006/main" noGrp="1"/>
          </p:cNvSpPr>
          <p:nvPr/>
        </p:nvSpPr>
        <p:spPr>
          <a:xfrm xmlns:a="http://schemas.openxmlformats.org/drawingml/2006/main">
            <a:off x="685800" y="523875"/>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52E"/>
                </a:solidFill>
                <a:latin typeface="Arial"/>
                <a:ea typeface="Arial"/>
                <a:cs typeface="Arial"/>
              </a:defRPr>
            </a:pPr>
            <a:r>
              <a:rPr sz="3600" b="1">
                <a:solidFill>
                  <a:srgbClr val="18252E"/>
                </a:solidFill>
                <a:latin typeface="Arial"/>
                <a:ea typeface="Arial"/>
                <a:cs typeface="Arial"/>
              </a:rPr>
              <a:t>Dokazi za predlagano odločitev</a:t>
            </a:r>
          </a:p>
        </p:txBody>
      </p:sp>
      <p:sp>
        <p:nvSpPr>
          <p:cNvPr id="2" name="">
            <a:extLst xmlns:a="http://schemas.openxmlformats.org/drawingml/2006/main">
              <a:ext uri="{FF2B5EF4-FFF2-40B4-BE49-F238E27FC236}">
                <a16:creationId xmlns:a16="http://schemas.microsoft.com/office/drawing/2014/main" id="{0B22BF3B-1EE6-4174-A19F-0D87A5FE2F4A}"/>
              </a:ext>
            </a:extLst>
          </p:cNvPr>
          <p:cNvSpPr>
            <a:spLocks xmlns:a="http://schemas.openxmlformats.org/drawingml/2006/main" noGrp="1"/>
          </p:cNvSpPr>
          <p:nvPr/>
        </p:nvSpPr>
        <p:spPr>
          <a:xfrm xmlns:a="http://schemas.openxmlformats.org/drawingml/2006/main">
            <a:off x="704850" y="1438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Pregled vključuje vseh 10 izvornih vrstic</a:t>
            </a:r>
          </a:p>
        </p:txBody>
      </p:sp>
      <p:graphicFrame>
        <p:nvGraphicFramePr>
          <p:cNvPr id="7" name=""/>
          <p:cNvGraphicFramePr/>
          <p:nvPr/>
        </p:nvGraphicFramePr>
        <p:xfrm>
          <a:off xmlns:a="http://schemas.openxmlformats.org/drawingml/2006/main" x="704850" y="2143125"/>
          <a:ext xmlns:a="http://schemas.openxmlformats.org/drawingml/2006/main" cx="10763250" cy="3143250"/>
        </p:xfrm>
        <a:graphic xmlns:a="http://schemas.openxmlformats.org/drawingml/2006/main">
          <a:graphicData uri="http://schemas.openxmlformats.org/drawingml/2006/table">
            <a:tbl>
              <a:tblPr firstRow="1" bandRow="0"/>
              <a:tblGrid>
                <a:gridCol w="5191125"/>
                <a:gridCol w="1428750"/>
                <a:gridCol w="4143375"/>
              </a:tblGrid>
              <a:tr h="523875">
                <a:tc>
                  <a:txBody>
                    <a:bodyPr>
                      <a:noAutofit/>
                    </a:bodyPr>
                    <a:lstStyle/>
                    <a:p>
                      <a:r>
                        <a:rPr sz="1875" b="1">
                          <a:solidFill>
                            <a:srgbClr val="FFFFFF"/>
                          </a:solidFill>
                          <a:latin typeface="Arial"/>
                          <a:ea typeface="Arial"/>
                          <a:cs typeface="Arial"/>
                        </a:rPr>
                        <a:t>Rezultat pregleda</a:t>
                      </a:r>
                    </a:p>
                  </a:txBody>
                  <a:tcPr marL="91440" marR="91440" marT="45720" marB="45720">
                    <a:solidFill>
                      <a:srgbClr val="283D4B"/>
                    </a:solidFill>
                  </a:tcPr>
                </a:tc>
                <a:tc>
                  <a:txBody>
                    <a:bodyPr>
                      <a:noAutofit/>
                    </a:bodyPr>
                    <a:lstStyle/>
                    <a:p>
                      <a:r>
                        <a:rPr sz="1875" b="1">
                          <a:solidFill>
                            <a:srgbClr val="FFFFFF"/>
                          </a:solidFill>
                          <a:latin typeface="Arial"/>
                          <a:ea typeface="Arial"/>
                          <a:cs typeface="Arial"/>
                        </a:rPr>
                        <a:t>Število</a:t>
                      </a:r>
                    </a:p>
                  </a:txBody>
                  <a:tcPr marL="91440" marR="91440" marT="45720" marB="45720">
                    <a:solidFill>
                      <a:srgbClr val="283D4B"/>
                    </a:solidFill>
                  </a:tcPr>
                </a:tc>
                <a:tc>
                  <a:txBody>
                    <a:bodyPr>
                      <a:noAutofit/>
                    </a:bodyPr>
                    <a:lstStyle/>
                    <a:p>
                      <a:r>
                        <a:rPr sz="1875" b="1">
                          <a:solidFill>
                            <a:srgbClr val="FFFFFF"/>
                          </a:solidFill>
                          <a:latin typeface="Arial"/>
                          <a:ea typeface="Arial"/>
                          <a:cs typeface="Arial"/>
                        </a:rPr>
                        <a:t>Dokaz ali izvorni ID</a:t>
                      </a:r>
                    </a:p>
                  </a:txBody>
                  <a:tcPr marL="91440" marR="91440" marT="45720" marB="45720">
                    <a:solidFill>
                      <a:srgbClr val="283D4B"/>
                    </a:solidFill>
                  </a:tcPr>
                </a:tc>
              </a:tr>
              <a:tr h="523875">
                <a:tc>
                  <a:txBody>
                    <a:bodyPr>
                      <a:noAutofit/>
                    </a:bodyPr>
                    <a:lstStyle/>
                    <a:p>
                      <a:r>
                        <a:rPr sz="1800" b="0">
                          <a:solidFill>
                            <a:srgbClr val="18252E"/>
                          </a:solidFill>
                          <a:latin typeface="Arial"/>
                          <a:ea typeface="Arial"/>
                          <a:cs typeface="Arial"/>
                        </a:rPr>
                        <a:t>Pripravljene za predlog</a:t>
                      </a:r>
                    </a:p>
                  </a:txBody>
                  <a:tcPr marL="91440" marR="91440" marT="45720" marB="45720">
                    <a:solidFill>
                      <a:srgbClr val="FFFFFF"/>
                    </a:solidFill>
                  </a:tcPr>
                </a:tc>
                <a:tc>
                  <a:txBody>
                    <a:bodyPr>
                      <a:noAutofit/>
                    </a:bodyPr>
                    <a:lstStyle/>
                    <a:p>
                      <a:r>
                        <a:rPr sz="1800" b="0">
                          <a:solidFill>
                            <a:srgbClr val="18252E"/>
                          </a:solidFill>
                          <a:latin typeface="Arial"/>
                          <a:ea typeface="Arial"/>
                          <a:cs typeface="Arial"/>
                        </a:rPr>
                        <a:t>[št.]</a:t>
                      </a:r>
                    </a:p>
                  </a:txBody>
                  <a:tcPr marL="91440" marR="91440" marT="45720" marB="45720">
                    <a:solidFill>
                      <a:srgbClr val="FFFFFF"/>
                    </a:solidFill>
                  </a:tcPr>
                </a:tc>
                <a:tc>
                  <a:txBody>
                    <a:bodyPr>
                      <a:noAutofit/>
                    </a:bodyPr>
                    <a:lstStyle/>
                    <a:p>
                      <a:r>
                        <a:rPr sz="1800" b="0">
                          <a:solidFill>
                            <a:srgbClr val="18252E"/>
                          </a:solidFill>
                          <a:latin typeface="Arial"/>
                          <a:ea typeface="Arial"/>
                          <a:cs typeface="Arial"/>
                        </a:rPr>
                        <a:t>[ID / pregled]</a:t>
                      </a:r>
                    </a:p>
                  </a:txBody>
                  <a:tcPr marL="91440" marR="91440" marT="45720" marB="45720">
                    <a:solidFill>
                      <a:srgbClr val="FFFFFF"/>
                    </a:solidFill>
                  </a:tcPr>
                </a:tc>
              </a:tr>
              <a:tr h="523875">
                <a:tc>
                  <a:txBody>
                    <a:bodyPr>
                      <a:noAutofit/>
                    </a:bodyPr>
                    <a:lstStyle/>
                    <a:p>
                      <a:r>
                        <a:rPr sz="1800" b="0">
                          <a:solidFill>
                            <a:srgbClr val="18252E"/>
                          </a:solidFill>
                          <a:latin typeface="Arial"/>
                          <a:ea typeface="Arial"/>
                          <a:cs typeface="Arial"/>
                        </a:rPr>
                        <a:t>Že obstoječi kontakti</a:t>
                      </a:r>
                    </a:p>
                  </a:txBody>
                  <a:tcPr marL="91440" marR="91440" marT="45720" marB="45720">
                    <a:solidFill>
                      <a:srgbClr val="FFFFFF"/>
                    </a:solidFill>
                  </a:tcPr>
                </a:tc>
                <a:tc>
                  <a:txBody>
                    <a:bodyPr>
                      <a:noAutofit/>
                    </a:bodyPr>
                    <a:lstStyle/>
                    <a:p>
                      <a:r>
                        <a:rPr sz="1800" b="0">
                          <a:solidFill>
                            <a:srgbClr val="18252E"/>
                          </a:solidFill>
                          <a:latin typeface="Arial"/>
                          <a:ea typeface="Arial"/>
                          <a:cs typeface="Arial"/>
                        </a:rPr>
                        <a:t>[št.]</a:t>
                      </a:r>
                    </a:p>
                  </a:txBody>
                  <a:tcPr marL="91440" marR="91440" marT="45720" marB="45720">
                    <a:solidFill>
                      <a:srgbClr val="FFFFFF"/>
                    </a:solidFill>
                  </a:tcPr>
                </a:tc>
                <a:tc>
                  <a:txBody>
                    <a:bodyPr>
                      <a:noAutofit/>
                    </a:bodyPr>
                    <a:lstStyle/>
                    <a:p>
                      <a:r>
                        <a:rPr sz="1800" b="0">
                          <a:solidFill>
                            <a:srgbClr val="18252E"/>
                          </a:solidFill>
                          <a:latin typeface="Arial"/>
                          <a:ea typeface="Arial"/>
                          <a:cs typeface="Arial"/>
                        </a:rPr>
                        <a:t>[ID / pregled]</a:t>
                      </a:r>
                    </a:p>
                  </a:txBody>
                  <a:tcPr marL="91440" marR="91440" marT="45720" marB="45720">
                    <a:solidFill>
                      <a:srgbClr val="FFFFFF"/>
                    </a:solidFill>
                  </a:tcPr>
                </a:tc>
              </a:tr>
              <a:tr h="523875">
                <a:tc>
                  <a:txBody>
                    <a:bodyPr>
                      <a:noAutofit/>
                    </a:bodyPr>
                    <a:lstStyle/>
                    <a:p>
                      <a:r>
                        <a:rPr sz="1800" b="0">
                          <a:solidFill>
                            <a:srgbClr val="18252E"/>
                          </a:solidFill>
                          <a:latin typeface="Arial"/>
                          <a:ea typeface="Arial"/>
                          <a:cs typeface="Arial"/>
                        </a:rPr>
                        <a:t>Podvojene vhodne vrstice</a:t>
                      </a:r>
                    </a:p>
                  </a:txBody>
                  <a:tcPr marL="91440" marR="91440" marT="45720" marB="45720">
                    <a:solidFill>
                      <a:srgbClr val="FFFFFF"/>
                    </a:solidFill>
                  </a:tcPr>
                </a:tc>
                <a:tc>
                  <a:txBody>
                    <a:bodyPr>
                      <a:noAutofit/>
                    </a:bodyPr>
                    <a:lstStyle/>
                    <a:p>
                      <a:r>
                        <a:rPr sz="1800" b="0">
                          <a:solidFill>
                            <a:srgbClr val="18252E"/>
                          </a:solidFill>
                          <a:latin typeface="Arial"/>
                          <a:ea typeface="Arial"/>
                          <a:cs typeface="Arial"/>
                        </a:rPr>
                        <a:t>[št.]</a:t>
                      </a:r>
                    </a:p>
                  </a:txBody>
                  <a:tcPr marL="91440" marR="91440" marT="45720" marB="45720">
                    <a:solidFill>
                      <a:srgbClr val="FFFFFF"/>
                    </a:solidFill>
                  </a:tcPr>
                </a:tc>
                <a:tc>
                  <a:txBody>
                    <a:bodyPr>
                      <a:noAutofit/>
                    </a:bodyPr>
                    <a:lstStyle/>
                    <a:p>
                      <a:r>
                        <a:rPr sz="1800" b="0">
                          <a:solidFill>
                            <a:srgbClr val="18252E"/>
                          </a:solidFill>
                          <a:latin typeface="Arial"/>
                          <a:ea typeface="Arial"/>
                          <a:cs typeface="Arial"/>
                        </a:rPr>
                        <a:t>[ID / pregled]</a:t>
                      </a:r>
                    </a:p>
                  </a:txBody>
                  <a:tcPr marL="91440" marR="91440" marT="45720" marB="45720">
                    <a:solidFill>
                      <a:srgbClr val="FFFFFF"/>
                    </a:solidFill>
                  </a:tcPr>
                </a:tc>
              </a:tr>
              <a:tr h="523875">
                <a:tc>
                  <a:txBody>
                    <a:bodyPr>
                      <a:noAutofit/>
                    </a:bodyPr>
                    <a:lstStyle/>
                    <a:p>
                      <a:r>
                        <a:rPr sz="1800" b="0">
                          <a:solidFill>
                            <a:srgbClr val="18252E"/>
                          </a:solidFill>
                          <a:latin typeface="Arial"/>
                          <a:ea typeface="Arial"/>
                          <a:cs typeface="Arial"/>
                        </a:rPr>
                        <a:t>Vrstice za dodatni pregled</a:t>
                      </a:r>
                    </a:p>
                  </a:txBody>
                  <a:tcPr marL="91440" marR="91440" marT="45720" marB="45720">
                    <a:solidFill>
                      <a:srgbClr val="FFFFFF"/>
                    </a:solidFill>
                  </a:tcPr>
                </a:tc>
                <a:tc>
                  <a:txBody>
                    <a:bodyPr>
                      <a:noAutofit/>
                    </a:bodyPr>
                    <a:lstStyle/>
                    <a:p>
                      <a:r>
                        <a:rPr sz="1800" b="0">
                          <a:solidFill>
                            <a:srgbClr val="18252E"/>
                          </a:solidFill>
                          <a:latin typeface="Arial"/>
                          <a:ea typeface="Arial"/>
                          <a:cs typeface="Arial"/>
                        </a:rPr>
                        <a:t>[št.]</a:t>
                      </a:r>
                    </a:p>
                  </a:txBody>
                  <a:tcPr marL="91440" marR="91440" marT="45720" marB="45720">
                    <a:solidFill>
                      <a:srgbClr val="FFFFFF"/>
                    </a:solidFill>
                  </a:tcPr>
                </a:tc>
                <a:tc>
                  <a:txBody>
                    <a:bodyPr>
                      <a:noAutofit/>
                    </a:bodyPr>
                    <a:lstStyle/>
                    <a:p>
                      <a:r>
                        <a:rPr sz="1800" b="0">
                          <a:solidFill>
                            <a:srgbClr val="18252E"/>
                          </a:solidFill>
                          <a:latin typeface="Arial"/>
                          <a:ea typeface="Arial"/>
                          <a:cs typeface="Arial"/>
                        </a:rPr>
                        <a:t>[ID / pregled]</a:t>
                      </a:r>
                    </a:p>
                  </a:txBody>
                  <a:tcPr marL="91440" marR="91440" marT="45720" marB="45720">
                    <a:solidFill>
                      <a:srgbClr val="FFFFFF"/>
                    </a:solidFill>
                  </a:tcPr>
                </a:tc>
              </a:tr>
              <a:tr h="523875">
                <a:tc>
                  <a:txBody>
                    <a:bodyPr>
                      <a:noAutofit/>
                    </a:bodyPr>
                    <a:lstStyle/>
                    <a:p>
                      <a:r>
                        <a:rPr sz="1800" b="1">
                          <a:solidFill>
                            <a:srgbClr val="18252E"/>
                          </a:solidFill>
                          <a:latin typeface="Arial"/>
                          <a:ea typeface="Arial"/>
                          <a:cs typeface="Arial"/>
                        </a:rPr>
                        <a:t>Skupaj vhodnih vrstic</a:t>
                      </a:r>
                    </a:p>
                  </a:txBody>
                  <a:tcPr marL="91440" marR="91440" marT="45720" marB="45720">
                    <a:solidFill>
                      <a:srgbClr val="FFFFFF"/>
                    </a:solidFill>
                  </a:tcPr>
                </a:tc>
                <a:tc>
                  <a:txBody>
                    <a:bodyPr>
                      <a:noAutofit/>
                    </a:bodyPr>
                    <a:lstStyle/>
                    <a:p>
                      <a:r>
                        <a:rPr sz="1800" b="1">
                          <a:solidFill>
                            <a:srgbClr val="18252E"/>
                          </a:solidFill>
                          <a:latin typeface="Arial"/>
                          <a:ea typeface="Arial"/>
                          <a:cs typeface="Arial"/>
                        </a:rPr>
                        <a:t>10</a:t>
                      </a:r>
                    </a:p>
                  </a:txBody>
                  <a:tcPr marL="91440" marR="91440" marT="45720" marB="45720">
                    <a:solidFill>
                      <a:srgbClr val="FFFFFF"/>
                    </a:solidFill>
                  </a:tcPr>
                </a:tc>
                <a:tc>
                  <a:txBody>
                    <a:bodyPr>
                      <a:noAutofit/>
                    </a:bodyPr>
                    <a:lstStyle/>
                    <a:p>
                      <a:r>
                        <a:rPr sz="1800" b="1">
                          <a:solidFill>
                            <a:srgbClr val="18252E"/>
                          </a:solidFill>
                          <a:latin typeface="Arial"/>
                          <a:ea typeface="Arial"/>
                          <a:cs typeface="Arial"/>
                        </a:rPr>
                        <a:t>Izvorni CSV</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CB255AF-AB54-47E8-9D4E-CAA726990D98}"/>
              </a:ext>
            </a:extLst>
          </p:cNvPr>
          <p:cNvSpPr>
            <a:spLocks xmlns:a="http://schemas.openxmlformats.org/drawingml/2006/main" noGrp="1"/>
          </p:cNvSpPr>
          <p:nvPr/>
        </p:nvSpPr>
        <p:spPr>
          <a:xfrm xmlns:a="http://schemas.openxmlformats.org/drawingml/2006/main">
            <a:off x="704850" y="58483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16B"/>
                </a:solidFill>
                <a:latin typeface="Arial"/>
                <a:ea typeface="Arial"/>
                <a:cs typeface="Arial"/>
              </a:defRPr>
            </a:pPr>
            <a:r>
              <a:rPr sz="1650" b="0">
                <a:solidFill>
                  <a:srgbClr val="52616B"/>
                </a:solidFill>
                <a:latin typeface="Arial"/>
                <a:ea typeface="Arial"/>
                <a:cs typeface="Arial"/>
              </a:rPr>
              <a:t>Vir: CSV in CRM posnetek vaje A    Pravila: različica 1    Pregled: [datum]</a:t>
            </a:r>
          </a:p>
        </p:txBody>
      </p:sp>
    </p:spTree>
    <p:extLst>
      <p:ext uri="{BB962C8B-B14F-4D97-AF65-F5344CB8AC3E}">
        <p14:creationId xmlns:p14="http://schemas.microsoft.com/office/powerpoint/2010/main" val="22224374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37140A7-9AC1-4AF6-A93A-00F76E70E9A2}"/>
              </a:ext>
            </a:extLst>
          </p:cNvPr>
          <p:cNvSpPr>
            <a:spLocks xmlns:a="http://schemas.openxmlformats.org/drawingml/2006/main" noGrp="1"/>
          </p:cNvSpPr>
          <p:nvPr/>
        </p:nvSpPr>
        <p:spPr>
          <a:xfrm xmlns:a="http://schemas.openxmlformats.org/drawingml/2006/main">
            <a:off x="685800" y="523875"/>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18252E"/>
                </a:solidFill>
                <a:latin typeface="Arial"/>
                <a:ea typeface="Arial"/>
                <a:cs typeface="Arial"/>
              </a:defRPr>
            </a:pPr>
            <a:r>
              <a:rPr sz="3600" b="1">
                <a:solidFill>
                  <a:srgbClr val="18252E"/>
                </a:solidFill>
                <a:latin typeface="Arial"/>
                <a:ea typeface="Arial"/>
                <a:cs typeface="Arial"/>
              </a:rPr>
              <a:t>Odločitev in naslednji korak</a:t>
            </a:r>
          </a:p>
        </p:txBody>
      </p:sp>
      <p:sp>
        <p:nvSpPr>
          <p:cNvPr id="2" name="">
            <a:extLst xmlns:a="http://schemas.openxmlformats.org/drawingml/2006/main">
              <a:ext uri="{FF2B5EF4-FFF2-40B4-BE49-F238E27FC236}">
                <a16:creationId xmlns:a16="http://schemas.microsoft.com/office/drawing/2014/main" id="{C4736813-78DF-4670-B21C-7743CC849C7F}"/>
              </a:ext>
            </a:extLst>
          </p:cNvPr>
          <p:cNvSpPr>
            <a:spLocks xmlns:a="http://schemas.openxmlformats.org/drawingml/2006/main" noGrp="1"/>
          </p:cNvSpPr>
          <p:nvPr/>
        </p:nvSpPr>
        <p:spPr>
          <a:xfrm xmlns:a="http://schemas.openxmlformats.org/drawingml/2006/main">
            <a:off x="704850" y="14382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16B"/>
                </a:solidFill>
                <a:latin typeface="Arial"/>
                <a:ea typeface="Arial"/>
                <a:cs typeface="Arial"/>
              </a:defRPr>
            </a:pPr>
            <a:r>
              <a:rPr sz="1875" b="0">
                <a:solidFill>
                  <a:srgbClr val="52616B"/>
                </a:solidFill>
                <a:latin typeface="Arial"/>
                <a:ea typeface="Arial"/>
                <a:cs typeface="Arial"/>
              </a:rPr>
              <a:t>Stanje: čaka na pregled</a:t>
            </a:r>
          </a:p>
        </p:txBody>
      </p:sp>
      <p:sp>
        <p:nvSpPr>
          <p:cNvPr id="3" name="">
            <a:extLst xmlns:a="http://schemas.openxmlformats.org/drawingml/2006/main">
              <a:ext uri="{FF2B5EF4-FFF2-40B4-BE49-F238E27FC236}">
                <a16:creationId xmlns:a16="http://schemas.microsoft.com/office/drawing/2014/main" id="{D4767D1F-5631-49BA-9593-4DABAC2C7599}"/>
              </a:ext>
            </a:extLst>
          </p:cNvPr>
          <p:cNvSpPr>
            <a:spLocks xmlns:a="http://schemas.openxmlformats.org/drawingml/2006/main" noGrp="1"/>
          </p:cNvSpPr>
          <p:nvPr/>
        </p:nvSpPr>
        <p:spPr>
          <a:xfrm xmlns:a="http://schemas.openxmlformats.org/drawingml/2006/main">
            <a:off x="704850" y="2238375"/>
            <a:ext cx="10572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8252E"/>
                </a:solidFill>
                <a:latin typeface="Arial"/>
                <a:ea typeface="Arial"/>
                <a:cs typeface="Arial"/>
              </a:defRPr>
            </a:pPr>
            <a:r>
              <a:rPr sz="2700" b="1">
                <a:solidFill>
                  <a:srgbClr val="18252E"/>
                </a:solidFill>
                <a:latin typeface="Arial"/>
                <a:ea typeface="Arial"/>
                <a:cs typeface="Arial"/>
              </a:rPr>
              <a:t>[Točna vsebina, za katero želiš odločitev]</a:t>
            </a:r>
          </a:p>
        </p:txBody>
      </p:sp>
      <p:sp>
        <p:nvSpPr>
          <p:cNvPr id="4" name="">
            <a:extLst xmlns:a="http://schemas.openxmlformats.org/drawingml/2006/main">
              <a:ext uri="{FF2B5EF4-FFF2-40B4-BE49-F238E27FC236}">
                <a16:creationId xmlns:a16="http://schemas.microsoft.com/office/drawing/2014/main" id="{115EB104-C42F-4BB2-9CD5-395F6C8F866F}"/>
              </a:ext>
            </a:extLst>
          </p:cNvPr>
          <p:cNvSpPr>
            <a:spLocks xmlns:a="http://schemas.openxmlformats.org/drawingml/2006/main" noGrp="1"/>
          </p:cNvSpPr>
          <p:nvPr/>
        </p:nvSpPr>
        <p:spPr>
          <a:xfrm xmlns:a="http://schemas.openxmlformats.org/drawingml/2006/main">
            <a:off x="704850" y="3476625"/>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52E"/>
                </a:solidFill>
                <a:latin typeface="Arial"/>
                <a:ea typeface="Arial"/>
                <a:cs typeface="Arial"/>
              </a:defRPr>
            </a:pPr>
            <a:r>
              <a:rPr sz="2175" b="0">
                <a:solidFill>
                  <a:srgbClr val="18252E"/>
                </a:solidFill>
                <a:latin typeface="Arial"/>
                <a:ea typeface="Arial"/>
                <a:cs typeface="Arial"/>
              </a:rPr>
              <a:t>Odprto vprašanje: [kaj še manjka in kdo odgovori]</a:t>
            </a:r>
          </a:p>
        </p:txBody>
      </p:sp>
      <p:sp>
        <p:nvSpPr>
          <p:cNvPr id="5" name="">
            <a:extLst xmlns:a="http://schemas.openxmlformats.org/drawingml/2006/main">
              <a:ext uri="{FF2B5EF4-FFF2-40B4-BE49-F238E27FC236}">
                <a16:creationId xmlns:a16="http://schemas.microsoft.com/office/drawing/2014/main" id="{E2695A07-BF7C-43BD-80F4-423D4E587B79}"/>
              </a:ext>
            </a:extLst>
          </p:cNvPr>
          <p:cNvSpPr>
            <a:spLocks xmlns:a="http://schemas.openxmlformats.org/drawingml/2006/main" noGrp="1"/>
          </p:cNvSpPr>
          <p:nvPr/>
        </p:nvSpPr>
        <p:spPr>
          <a:xfrm xmlns:a="http://schemas.openxmlformats.org/drawingml/2006/main">
            <a:off x="704850" y="44767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252E"/>
                </a:solidFill>
                <a:latin typeface="Arial"/>
                <a:ea typeface="Arial"/>
                <a:cs typeface="Arial"/>
              </a:defRPr>
            </a:pPr>
            <a:r>
              <a:rPr sz="2175" b="0">
                <a:solidFill>
                  <a:srgbClr val="18252E"/>
                </a:solidFill>
                <a:latin typeface="Arial"/>
                <a:ea typeface="Arial"/>
                <a:cs typeface="Arial"/>
              </a:rPr>
              <a:t>Naslednje dejanje: [lastnik, obseg in pogoj izvedbe]</a:t>
            </a:r>
          </a:p>
        </p:txBody>
      </p:sp>
      <p:sp>
        <p:nvSpPr>
          <p:cNvPr id="6" name="">
            <a:extLst xmlns:a="http://schemas.openxmlformats.org/drawingml/2006/main">
              <a:ext uri="{FF2B5EF4-FFF2-40B4-BE49-F238E27FC236}">
                <a16:creationId xmlns:a16="http://schemas.microsoft.com/office/drawing/2014/main" id="{F8A355AE-9A68-4DDE-9775-71938C27280F}"/>
              </a:ext>
            </a:extLst>
          </p:cNvPr>
          <p:cNvSpPr>
            <a:spLocks xmlns:a="http://schemas.openxmlformats.org/drawingml/2006/main" noGrp="1"/>
          </p:cNvSpPr>
          <p:nvPr/>
        </p:nvSpPr>
        <p:spPr>
          <a:xfrm xmlns:a="http://schemas.openxmlformats.org/drawingml/2006/main">
            <a:off x="704850" y="5810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16B"/>
                </a:solidFill>
                <a:latin typeface="Arial"/>
                <a:ea typeface="Arial"/>
                <a:cs typeface="Arial"/>
              </a:defRPr>
            </a:pPr>
            <a:r>
              <a:rPr sz="1650" b="0">
                <a:solidFill>
                  <a:srgbClr val="52616B"/>
                </a:solidFill>
                <a:latin typeface="Arial"/>
                <a:ea typeface="Arial"/>
                <a:cs typeface="Arial"/>
              </a:rPr>
              <a:t>Zapis v CRM ali pošiljanje zahteva posebej določeno odločitev.</a:t>
            </a:r>
          </a:p>
        </p:txBody>
      </p:sp>
    </p:spTree>
    <p:extLst>
      <p:ext uri="{BB962C8B-B14F-4D97-AF65-F5344CB8AC3E}">
        <p14:creationId xmlns:p14="http://schemas.microsoft.com/office/powerpoint/2010/main" val="5022441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2026-09-20T15:29:41.1020000Z</dcterms:created>
  <dcterms:modified xsi:type="dcterms:W3CDTF">2026-09-20T15:29:41.1020000Z</dcterms:modified>
</coreProperties>
</file>